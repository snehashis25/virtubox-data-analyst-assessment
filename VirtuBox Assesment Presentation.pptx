
<file path=[Content_Types].xml><?xml version="1.0" encoding="utf-8"?>
<Types xmlns="http://schemas.openxmlformats.org/package/2006/content-types">
  <Default ContentType="application/xml" Extension="xml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21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70" r:id="rId4"/>
    <p:sldMasterId id="2147483671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11" Type="http://schemas.openxmlformats.org/officeDocument/2006/relationships/slide" Target="slides/slide5.xml"/><Relationship Id="rId10" Type="http://schemas.openxmlformats.org/officeDocument/2006/relationships/slide" Target="slides/slide4.xml"/><Relationship Id="rId12" Type="http://schemas.openxmlformats.org/officeDocument/2006/relationships/slide" Target="slides/slide6.xml"/><Relationship Id="rId9" Type="http://schemas.openxmlformats.org/officeDocument/2006/relationships/slide" Target="slides/slide3.xml"/><Relationship Id="rId5" Type="http://schemas.openxmlformats.org/officeDocument/2006/relationships/slideMaster" Target="slideMasters/slideMaster2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h66b47f202d1a2b07_3_7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7" name="Google Shape;127;h66b47f202d1a2b07_3_75:notes"/>
          <p:cNvSpPr/>
          <p:nvPr>
            <p:ph idx="2" type="sldImg"/>
          </p:nvPr>
        </p:nvSpPr>
        <p:spPr>
          <a:xfrm>
            <a:off x="1143164" y="685800"/>
            <a:ext cx="4572347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h66b47f202d1a2b07_3_8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4" name="Google Shape;134;h66b47f202d1a2b07_3_82:notes"/>
          <p:cNvSpPr/>
          <p:nvPr>
            <p:ph idx="2" type="sldImg"/>
          </p:nvPr>
        </p:nvSpPr>
        <p:spPr>
          <a:xfrm>
            <a:off x="1143164" y="685800"/>
            <a:ext cx="4572347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h66b47f202d1a2b07_3_8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1" name="Google Shape;141;h66b47f202d1a2b07_3_88:notes"/>
          <p:cNvSpPr/>
          <p:nvPr>
            <p:ph idx="2" type="sldImg"/>
          </p:nvPr>
        </p:nvSpPr>
        <p:spPr>
          <a:xfrm>
            <a:off x="1143164" y="685800"/>
            <a:ext cx="4572347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h66b47f202d1a2b07_3_9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0" name="Google Shape;150;h66b47f202d1a2b07_3_94:notes"/>
          <p:cNvSpPr/>
          <p:nvPr>
            <p:ph idx="2" type="sldImg"/>
          </p:nvPr>
        </p:nvSpPr>
        <p:spPr>
          <a:xfrm>
            <a:off x="1143164" y="685800"/>
            <a:ext cx="4572347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h66b47f202d1a2b07_3_10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7" name="Google Shape;157;h66b47f202d1a2b07_3_100:notes"/>
          <p:cNvSpPr/>
          <p:nvPr>
            <p:ph idx="2" type="sldImg"/>
          </p:nvPr>
        </p:nvSpPr>
        <p:spPr>
          <a:xfrm>
            <a:off x="1143164" y="685800"/>
            <a:ext cx="4572347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2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h66b47f202d1a2b07_3_10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4" name="Google Shape;164;h66b47f202d1a2b07_3_106:notes"/>
          <p:cNvSpPr/>
          <p:nvPr>
            <p:ph idx="2" type="sldImg"/>
          </p:nvPr>
        </p:nvSpPr>
        <p:spPr>
          <a:xfrm>
            <a:off x="1143164" y="685800"/>
            <a:ext cx="4572347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14"/>
          <p:cNvSpPr txBox="1"/>
          <p:nvPr>
            <p:ph idx="10" type="dt"/>
          </p:nvPr>
        </p:nvSpPr>
        <p:spPr>
          <a:xfrm>
            <a:off x="342909" y="4767263"/>
            <a:ext cx="1600243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8" name="Google Shape;58;p14"/>
          <p:cNvSpPr txBox="1"/>
          <p:nvPr>
            <p:ph idx="11" type="ftr"/>
          </p:nvPr>
        </p:nvSpPr>
        <p:spPr>
          <a:xfrm>
            <a:off x="2343212" y="4767263"/>
            <a:ext cx="2171758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9" name="Google Shape;59;p14"/>
          <p:cNvSpPr txBox="1"/>
          <p:nvPr>
            <p:ph idx="12" type="sldNum"/>
          </p:nvPr>
        </p:nvSpPr>
        <p:spPr>
          <a:xfrm>
            <a:off x="4915031" y="4767263"/>
            <a:ext cx="1600243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15"/>
          <p:cNvSpPr txBox="1"/>
          <p:nvPr>
            <p:ph type="ctrTitle"/>
          </p:nvPr>
        </p:nvSpPr>
        <p:spPr>
          <a:xfrm>
            <a:off x="514364" y="1597819"/>
            <a:ext cx="5829455" cy="1102519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2" name="Google Shape;62;p15"/>
          <p:cNvSpPr txBox="1"/>
          <p:nvPr>
            <p:ph idx="1" type="subTitle"/>
          </p:nvPr>
        </p:nvSpPr>
        <p:spPr>
          <a:xfrm>
            <a:off x="1028727" y="2914650"/>
            <a:ext cx="4800728" cy="131445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lvl="0" algn="ctr"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1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3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3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3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3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3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3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63" name="Google Shape;63;p15"/>
          <p:cNvSpPr txBox="1"/>
          <p:nvPr>
            <p:ph idx="10" type="dt"/>
          </p:nvPr>
        </p:nvSpPr>
        <p:spPr>
          <a:xfrm>
            <a:off x="342909" y="4767263"/>
            <a:ext cx="1600243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4" name="Google Shape;64;p15"/>
          <p:cNvSpPr txBox="1"/>
          <p:nvPr>
            <p:ph idx="11" type="ftr"/>
          </p:nvPr>
        </p:nvSpPr>
        <p:spPr>
          <a:xfrm>
            <a:off x="2343212" y="4767263"/>
            <a:ext cx="2171758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5" name="Google Shape;65;p15"/>
          <p:cNvSpPr txBox="1"/>
          <p:nvPr>
            <p:ph idx="12" type="sldNum"/>
          </p:nvPr>
        </p:nvSpPr>
        <p:spPr>
          <a:xfrm>
            <a:off x="4915031" y="4767263"/>
            <a:ext cx="1600243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16"/>
          <p:cNvSpPr txBox="1"/>
          <p:nvPr>
            <p:ph type="title"/>
          </p:nvPr>
        </p:nvSpPr>
        <p:spPr>
          <a:xfrm>
            <a:off x="342909" y="205978"/>
            <a:ext cx="6172365" cy="85725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8" name="Google Shape;68;p16"/>
          <p:cNvSpPr txBox="1"/>
          <p:nvPr>
            <p:ph idx="1" type="body"/>
          </p:nvPr>
        </p:nvSpPr>
        <p:spPr>
          <a:xfrm>
            <a:off x="342909" y="1200150"/>
            <a:ext cx="6172365" cy="3394472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–"/>
              <a:defRPr/>
            </a:lvl2pPr>
            <a:lvl3pPr indent="-317500" lvl="2" marL="13716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–"/>
              <a:defRPr/>
            </a:lvl4pPr>
            <a:lvl5pPr indent="-317500" lvl="4" marL="22860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»"/>
              <a:defRPr/>
            </a:lvl5pPr>
            <a:lvl6pPr indent="-317500" lvl="5" marL="27432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69" name="Google Shape;69;p16"/>
          <p:cNvSpPr txBox="1"/>
          <p:nvPr>
            <p:ph idx="10" type="dt"/>
          </p:nvPr>
        </p:nvSpPr>
        <p:spPr>
          <a:xfrm>
            <a:off x="342909" y="4767263"/>
            <a:ext cx="1600243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0" name="Google Shape;70;p16"/>
          <p:cNvSpPr txBox="1"/>
          <p:nvPr>
            <p:ph idx="11" type="ftr"/>
          </p:nvPr>
        </p:nvSpPr>
        <p:spPr>
          <a:xfrm>
            <a:off x="2343212" y="4767263"/>
            <a:ext cx="2171758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1" name="Google Shape;71;p16"/>
          <p:cNvSpPr txBox="1"/>
          <p:nvPr>
            <p:ph idx="12" type="sldNum"/>
          </p:nvPr>
        </p:nvSpPr>
        <p:spPr>
          <a:xfrm>
            <a:off x="4915031" y="4767263"/>
            <a:ext cx="1600243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7"/>
          <p:cNvSpPr txBox="1"/>
          <p:nvPr>
            <p:ph type="title"/>
          </p:nvPr>
        </p:nvSpPr>
        <p:spPr>
          <a:xfrm>
            <a:off x="541749" y="3305175"/>
            <a:ext cx="5829455" cy="1021556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Calibri"/>
              <a:buNone/>
              <a:defRPr b="1" sz="3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4" name="Google Shape;74;p17"/>
          <p:cNvSpPr txBox="1"/>
          <p:nvPr>
            <p:ph idx="1" type="body"/>
          </p:nvPr>
        </p:nvSpPr>
        <p:spPr>
          <a:xfrm>
            <a:off x="541749" y="2180035"/>
            <a:ext cx="5829455" cy="112514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indent="-228600" lvl="0" marL="457200" algn="l">
              <a:spcBef>
                <a:spcPts val="3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 sz="15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0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00"/>
              </a:spcBef>
              <a:spcAft>
                <a:spcPts val="0"/>
              </a:spcAft>
              <a:buClr>
                <a:srgbClr val="888888"/>
              </a:buClr>
              <a:buSzPts val="1100"/>
              <a:buNone/>
              <a:defRPr sz="11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00"/>
              </a:spcBef>
              <a:spcAft>
                <a:spcPts val="0"/>
              </a:spcAft>
              <a:buClr>
                <a:srgbClr val="888888"/>
              </a:buClr>
              <a:buSzPts val="1100"/>
              <a:buNone/>
              <a:defRPr sz="11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00"/>
              </a:spcBef>
              <a:spcAft>
                <a:spcPts val="0"/>
              </a:spcAft>
              <a:buClr>
                <a:srgbClr val="888888"/>
              </a:buClr>
              <a:buSzPts val="1100"/>
              <a:buNone/>
              <a:defRPr sz="11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00"/>
              </a:spcBef>
              <a:spcAft>
                <a:spcPts val="0"/>
              </a:spcAft>
              <a:buClr>
                <a:srgbClr val="888888"/>
              </a:buClr>
              <a:buSzPts val="1100"/>
              <a:buNone/>
              <a:defRPr sz="11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00"/>
              </a:spcBef>
              <a:spcAft>
                <a:spcPts val="0"/>
              </a:spcAft>
              <a:buClr>
                <a:srgbClr val="888888"/>
              </a:buClr>
              <a:buSzPts val="1100"/>
              <a:buNone/>
              <a:defRPr sz="11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00"/>
              </a:spcBef>
              <a:spcAft>
                <a:spcPts val="0"/>
              </a:spcAft>
              <a:buClr>
                <a:srgbClr val="888888"/>
              </a:buClr>
              <a:buSzPts val="1100"/>
              <a:buNone/>
              <a:defRPr sz="11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75" name="Google Shape;75;p17"/>
          <p:cNvSpPr txBox="1"/>
          <p:nvPr>
            <p:ph idx="10" type="dt"/>
          </p:nvPr>
        </p:nvSpPr>
        <p:spPr>
          <a:xfrm>
            <a:off x="342909" y="4767263"/>
            <a:ext cx="1600243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6" name="Google Shape;76;p17"/>
          <p:cNvSpPr txBox="1"/>
          <p:nvPr>
            <p:ph idx="11" type="ftr"/>
          </p:nvPr>
        </p:nvSpPr>
        <p:spPr>
          <a:xfrm>
            <a:off x="2343212" y="4767263"/>
            <a:ext cx="2171758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7" name="Google Shape;77;p17"/>
          <p:cNvSpPr txBox="1"/>
          <p:nvPr>
            <p:ph idx="12" type="sldNum"/>
          </p:nvPr>
        </p:nvSpPr>
        <p:spPr>
          <a:xfrm>
            <a:off x="4915031" y="4767263"/>
            <a:ext cx="1600243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8"/>
          <p:cNvSpPr txBox="1"/>
          <p:nvPr>
            <p:ph type="title"/>
          </p:nvPr>
        </p:nvSpPr>
        <p:spPr>
          <a:xfrm>
            <a:off x="342909" y="205978"/>
            <a:ext cx="6172365" cy="85725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80" name="Google Shape;80;p18"/>
          <p:cNvSpPr txBox="1"/>
          <p:nvPr>
            <p:ph idx="1" type="body"/>
          </p:nvPr>
        </p:nvSpPr>
        <p:spPr>
          <a:xfrm>
            <a:off x="342909" y="1200150"/>
            <a:ext cx="3029031" cy="3394472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61950" lvl="0" marL="457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  <a:defRPr sz="2100"/>
            </a:lvl1pPr>
            <a:lvl2pPr indent="-3429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2pPr>
            <a:lvl3pPr indent="-323850" lvl="2" marL="13716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3pPr>
            <a:lvl4pPr indent="-317500" lvl="3" marL="18288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–"/>
              <a:defRPr sz="1400"/>
            </a:lvl4pPr>
            <a:lvl5pPr indent="-317500" lvl="4" marL="22860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»"/>
              <a:defRPr sz="1400"/>
            </a:lvl5pPr>
            <a:lvl6pPr indent="-317500" lvl="5" marL="27432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6pPr>
            <a:lvl7pPr indent="-317500" lvl="6" marL="32004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7pPr>
            <a:lvl8pPr indent="-317500" lvl="7" marL="36576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8pPr>
            <a:lvl9pPr indent="-317500" lvl="8" marL="41148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9pPr>
          </a:lstStyle>
          <a:p/>
        </p:txBody>
      </p:sp>
      <p:sp>
        <p:nvSpPr>
          <p:cNvPr id="81" name="Google Shape;81;p18"/>
          <p:cNvSpPr txBox="1"/>
          <p:nvPr>
            <p:ph idx="2" type="body"/>
          </p:nvPr>
        </p:nvSpPr>
        <p:spPr>
          <a:xfrm>
            <a:off x="3486243" y="1200150"/>
            <a:ext cx="3029031" cy="3394472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61950" lvl="0" marL="457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  <a:defRPr sz="2100"/>
            </a:lvl1pPr>
            <a:lvl2pPr indent="-3429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2pPr>
            <a:lvl3pPr indent="-323850" lvl="2" marL="13716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3pPr>
            <a:lvl4pPr indent="-317500" lvl="3" marL="18288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–"/>
              <a:defRPr sz="1400"/>
            </a:lvl4pPr>
            <a:lvl5pPr indent="-317500" lvl="4" marL="22860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»"/>
              <a:defRPr sz="1400"/>
            </a:lvl5pPr>
            <a:lvl6pPr indent="-317500" lvl="5" marL="27432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6pPr>
            <a:lvl7pPr indent="-317500" lvl="6" marL="32004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7pPr>
            <a:lvl8pPr indent="-317500" lvl="7" marL="36576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8pPr>
            <a:lvl9pPr indent="-317500" lvl="8" marL="41148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9pPr>
          </a:lstStyle>
          <a:p/>
        </p:txBody>
      </p:sp>
      <p:sp>
        <p:nvSpPr>
          <p:cNvPr id="82" name="Google Shape;82;p18"/>
          <p:cNvSpPr txBox="1"/>
          <p:nvPr>
            <p:ph idx="10" type="dt"/>
          </p:nvPr>
        </p:nvSpPr>
        <p:spPr>
          <a:xfrm>
            <a:off x="342909" y="4767263"/>
            <a:ext cx="1600243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83" name="Google Shape;83;p18"/>
          <p:cNvSpPr txBox="1"/>
          <p:nvPr>
            <p:ph idx="11" type="ftr"/>
          </p:nvPr>
        </p:nvSpPr>
        <p:spPr>
          <a:xfrm>
            <a:off x="2343212" y="4767263"/>
            <a:ext cx="2171758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84" name="Google Shape;84;p18"/>
          <p:cNvSpPr txBox="1"/>
          <p:nvPr>
            <p:ph idx="12" type="sldNum"/>
          </p:nvPr>
        </p:nvSpPr>
        <p:spPr>
          <a:xfrm>
            <a:off x="4915031" y="4767263"/>
            <a:ext cx="1600243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9"/>
          <p:cNvSpPr txBox="1"/>
          <p:nvPr>
            <p:ph type="title"/>
          </p:nvPr>
        </p:nvSpPr>
        <p:spPr>
          <a:xfrm>
            <a:off x="342909" y="205978"/>
            <a:ext cx="6172365" cy="85725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87" name="Google Shape;87;p19"/>
          <p:cNvSpPr txBox="1"/>
          <p:nvPr>
            <p:ph idx="1" type="body"/>
          </p:nvPr>
        </p:nvSpPr>
        <p:spPr>
          <a:xfrm>
            <a:off x="342909" y="1151335"/>
            <a:ext cx="3030222" cy="479822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1pPr>
            <a:lvl2pPr indent="-228600" lvl="1" marL="9144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b="1" sz="1500"/>
            </a:lvl2pPr>
            <a:lvl3pPr indent="-228600" lvl="2" marL="13716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1" sz="1400"/>
            </a:lvl3pPr>
            <a:lvl4pPr indent="-228600" lvl="3" marL="18288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4pPr>
            <a:lvl5pPr indent="-228600" lvl="4" marL="22860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5pPr>
            <a:lvl6pPr indent="-228600" lvl="5" marL="27432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6pPr>
            <a:lvl7pPr indent="-228600" lvl="6" marL="32004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7pPr>
            <a:lvl8pPr indent="-228600" lvl="7" marL="3657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8pPr>
            <a:lvl9pPr indent="-228600" lvl="8" marL="41148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9pPr>
          </a:lstStyle>
          <a:p/>
        </p:txBody>
      </p:sp>
      <p:sp>
        <p:nvSpPr>
          <p:cNvPr id="88" name="Google Shape;88;p19"/>
          <p:cNvSpPr txBox="1"/>
          <p:nvPr>
            <p:ph idx="2" type="body"/>
          </p:nvPr>
        </p:nvSpPr>
        <p:spPr>
          <a:xfrm>
            <a:off x="342909" y="1631156"/>
            <a:ext cx="3030222" cy="2963466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42900" lvl="0" marL="457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1pPr>
            <a:lvl2pPr indent="-323850" lvl="1" marL="9144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Char char="–"/>
              <a:defRPr sz="1500"/>
            </a:lvl2pPr>
            <a:lvl3pPr indent="-317500" lvl="2" marL="13716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3pPr>
            <a:lvl4pPr indent="-304800" lvl="3" marL="18288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Char char="–"/>
              <a:defRPr sz="1200"/>
            </a:lvl4pPr>
            <a:lvl5pPr indent="-304800" lvl="4" marL="22860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Char char="»"/>
              <a:defRPr sz="1200"/>
            </a:lvl5pPr>
            <a:lvl6pPr indent="-304800" lvl="5" marL="27432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/>
            </a:lvl6pPr>
            <a:lvl7pPr indent="-304800" lvl="6" marL="32004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/>
            </a:lvl7pPr>
            <a:lvl8pPr indent="-304800" lvl="7" marL="3657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/>
            </a:lvl8pPr>
            <a:lvl9pPr indent="-304800" lvl="8" marL="41148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/>
            </a:lvl9pPr>
          </a:lstStyle>
          <a:p/>
        </p:txBody>
      </p:sp>
      <p:sp>
        <p:nvSpPr>
          <p:cNvPr id="89" name="Google Shape;89;p19"/>
          <p:cNvSpPr txBox="1"/>
          <p:nvPr>
            <p:ph idx="3" type="body"/>
          </p:nvPr>
        </p:nvSpPr>
        <p:spPr>
          <a:xfrm>
            <a:off x="3483862" y="1151335"/>
            <a:ext cx="3031412" cy="479822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1pPr>
            <a:lvl2pPr indent="-228600" lvl="1" marL="9144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b="1" sz="1500"/>
            </a:lvl2pPr>
            <a:lvl3pPr indent="-228600" lvl="2" marL="13716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1" sz="1400"/>
            </a:lvl3pPr>
            <a:lvl4pPr indent="-228600" lvl="3" marL="18288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4pPr>
            <a:lvl5pPr indent="-228600" lvl="4" marL="22860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5pPr>
            <a:lvl6pPr indent="-228600" lvl="5" marL="27432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6pPr>
            <a:lvl7pPr indent="-228600" lvl="6" marL="32004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7pPr>
            <a:lvl8pPr indent="-228600" lvl="7" marL="3657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8pPr>
            <a:lvl9pPr indent="-228600" lvl="8" marL="41148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9pPr>
          </a:lstStyle>
          <a:p/>
        </p:txBody>
      </p:sp>
      <p:sp>
        <p:nvSpPr>
          <p:cNvPr id="90" name="Google Shape;90;p19"/>
          <p:cNvSpPr txBox="1"/>
          <p:nvPr>
            <p:ph idx="4" type="body"/>
          </p:nvPr>
        </p:nvSpPr>
        <p:spPr>
          <a:xfrm>
            <a:off x="3483862" y="1631156"/>
            <a:ext cx="3031412" cy="2963466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42900" lvl="0" marL="457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1pPr>
            <a:lvl2pPr indent="-323850" lvl="1" marL="9144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Char char="–"/>
              <a:defRPr sz="1500"/>
            </a:lvl2pPr>
            <a:lvl3pPr indent="-317500" lvl="2" marL="13716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3pPr>
            <a:lvl4pPr indent="-304800" lvl="3" marL="18288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Char char="–"/>
              <a:defRPr sz="1200"/>
            </a:lvl4pPr>
            <a:lvl5pPr indent="-304800" lvl="4" marL="22860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Char char="»"/>
              <a:defRPr sz="1200"/>
            </a:lvl5pPr>
            <a:lvl6pPr indent="-304800" lvl="5" marL="27432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/>
            </a:lvl6pPr>
            <a:lvl7pPr indent="-304800" lvl="6" marL="32004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/>
            </a:lvl7pPr>
            <a:lvl8pPr indent="-304800" lvl="7" marL="3657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/>
            </a:lvl8pPr>
            <a:lvl9pPr indent="-304800" lvl="8" marL="41148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/>
            </a:lvl9pPr>
          </a:lstStyle>
          <a:p/>
        </p:txBody>
      </p:sp>
      <p:sp>
        <p:nvSpPr>
          <p:cNvPr id="91" name="Google Shape;91;p19"/>
          <p:cNvSpPr txBox="1"/>
          <p:nvPr>
            <p:ph idx="10" type="dt"/>
          </p:nvPr>
        </p:nvSpPr>
        <p:spPr>
          <a:xfrm>
            <a:off x="342909" y="4767263"/>
            <a:ext cx="1600243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92" name="Google Shape;92;p19"/>
          <p:cNvSpPr txBox="1"/>
          <p:nvPr>
            <p:ph idx="11" type="ftr"/>
          </p:nvPr>
        </p:nvSpPr>
        <p:spPr>
          <a:xfrm>
            <a:off x="2343212" y="4767263"/>
            <a:ext cx="2171758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93" name="Google Shape;93;p19"/>
          <p:cNvSpPr txBox="1"/>
          <p:nvPr>
            <p:ph idx="12" type="sldNum"/>
          </p:nvPr>
        </p:nvSpPr>
        <p:spPr>
          <a:xfrm>
            <a:off x="4915031" y="4767263"/>
            <a:ext cx="1600243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20"/>
          <p:cNvSpPr txBox="1"/>
          <p:nvPr>
            <p:ph type="title"/>
          </p:nvPr>
        </p:nvSpPr>
        <p:spPr>
          <a:xfrm>
            <a:off x="342909" y="205978"/>
            <a:ext cx="6172365" cy="85725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96" name="Google Shape;96;p20"/>
          <p:cNvSpPr txBox="1"/>
          <p:nvPr>
            <p:ph idx="10" type="dt"/>
          </p:nvPr>
        </p:nvSpPr>
        <p:spPr>
          <a:xfrm>
            <a:off x="342909" y="4767263"/>
            <a:ext cx="1600243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97" name="Google Shape;97;p20"/>
          <p:cNvSpPr txBox="1"/>
          <p:nvPr>
            <p:ph idx="11" type="ftr"/>
          </p:nvPr>
        </p:nvSpPr>
        <p:spPr>
          <a:xfrm>
            <a:off x="2343212" y="4767263"/>
            <a:ext cx="2171758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98" name="Google Shape;98;p20"/>
          <p:cNvSpPr txBox="1"/>
          <p:nvPr>
            <p:ph idx="12" type="sldNum"/>
          </p:nvPr>
        </p:nvSpPr>
        <p:spPr>
          <a:xfrm>
            <a:off x="4915031" y="4767263"/>
            <a:ext cx="1600243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21"/>
          <p:cNvSpPr txBox="1"/>
          <p:nvPr>
            <p:ph type="title"/>
          </p:nvPr>
        </p:nvSpPr>
        <p:spPr>
          <a:xfrm>
            <a:off x="342909" y="204788"/>
            <a:ext cx="2256295" cy="871538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Calibri"/>
              <a:buNone/>
              <a:defRPr b="1" sz="15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01" name="Google Shape;101;p21"/>
          <p:cNvSpPr txBox="1"/>
          <p:nvPr>
            <p:ph idx="1" type="body"/>
          </p:nvPr>
        </p:nvSpPr>
        <p:spPr>
          <a:xfrm>
            <a:off x="2681359" y="204788"/>
            <a:ext cx="3833915" cy="4389835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81000" lvl="0" marL="457200" algn="l"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6195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100"/>
              <a:buChar char="–"/>
              <a:defRPr sz="2100"/>
            </a:lvl2pPr>
            <a:lvl3pPr indent="-3429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23850" lvl="3" marL="18288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Char char="–"/>
              <a:defRPr sz="1500"/>
            </a:lvl4pPr>
            <a:lvl5pPr indent="-323850" lvl="4" marL="22860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Char char="»"/>
              <a:defRPr sz="1500"/>
            </a:lvl5pPr>
            <a:lvl6pPr indent="-323850" lvl="5" marL="27432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6pPr>
            <a:lvl7pPr indent="-323850" lvl="6" marL="32004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7pPr>
            <a:lvl8pPr indent="-323850" lvl="7" marL="36576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8pPr>
            <a:lvl9pPr indent="-323850" lvl="8" marL="41148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9pPr>
          </a:lstStyle>
          <a:p/>
        </p:txBody>
      </p:sp>
      <p:sp>
        <p:nvSpPr>
          <p:cNvPr id="102" name="Google Shape;102;p21"/>
          <p:cNvSpPr txBox="1"/>
          <p:nvPr>
            <p:ph idx="2" type="body"/>
          </p:nvPr>
        </p:nvSpPr>
        <p:spPr>
          <a:xfrm>
            <a:off x="342909" y="1076325"/>
            <a:ext cx="2256295" cy="3518297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1pPr>
            <a:lvl2pPr indent="-228600" lvl="1" marL="9144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3pPr>
            <a:lvl4pPr indent="-228600" lvl="3" marL="18288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sz="700"/>
            </a:lvl4pPr>
            <a:lvl5pPr indent="-228600" lvl="4" marL="22860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sz="700"/>
            </a:lvl5pPr>
            <a:lvl6pPr indent="-228600" lvl="5" marL="27432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sz="700"/>
            </a:lvl6pPr>
            <a:lvl7pPr indent="-228600" lvl="6" marL="32004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sz="700"/>
            </a:lvl7pPr>
            <a:lvl8pPr indent="-228600" lvl="7" marL="36576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sz="700"/>
            </a:lvl8pPr>
            <a:lvl9pPr indent="-228600" lvl="8" marL="41148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sz="700"/>
            </a:lvl9pPr>
          </a:lstStyle>
          <a:p/>
        </p:txBody>
      </p:sp>
      <p:sp>
        <p:nvSpPr>
          <p:cNvPr id="103" name="Google Shape;103;p21"/>
          <p:cNvSpPr txBox="1"/>
          <p:nvPr>
            <p:ph idx="10" type="dt"/>
          </p:nvPr>
        </p:nvSpPr>
        <p:spPr>
          <a:xfrm>
            <a:off x="342909" y="4767263"/>
            <a:ext cx="1600243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04" name="Google Shape;104;p21"/>
          <p:cNvSpPr txBox="1"/>
          <p:nvPr>
            <p:ph idx="11" type="ftr"/>
          </p:nvPr>
        </p:nvSpPr>
        <p:spPr>
          <a:xfrm>
            <a:off x="2343212" y="4767263"/>
            <a:ext cx="2171758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05" name="Google Shape;105;p21"/>
          <p:cNvSpPr txBox="1"/>
          <p:nvPr>
            <p:ph idx="12" type="sldNum"/>
          </p:nvPr>
        </p:nvSpPr>
        <p:spPr>
          <a:xfrm>
            <a:off x="4915031" y="4767263"/>
            <a:ext cx="1600243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22"/>
          <p:cNvSpPr txBox="1"/>
          <p:nvPr>
            <p:ph type="title"/>
          </p:nvPr>
        </p:nvSpPr>
        <p:spPr>
          <a:xfrm>
            <a:off x="1344252" y="3600450"/>
            <a:ext cx="4114910" cy="425054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Calibri"/>
              <a:buNone/>
              <a:defRPr b="1" sz="15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08" name="Google Shape;108;p22"/>
          <p:cNvSpPr/>
          <p:nvPr>
            <p:ph idx="2" type="pic"/>
          </p:nvPr>
        </p:nvSpPr>
        <p:spPr>
          <a:xfrm>
            <a:off x="1344252" y="459581"/>
            <a:ext cx="4114910" cy="3086100"/>
          </a:xfrm>
          <a:prstGeom prst="rect">
            <a:avLst/>
          </a:prstGeom>
          <a:noFill/>
          <a:ln>
            <a:noFill/>
          </a:ln>
        </p:spPr>
      </p:sp>
      <p:sp>
        <p:nvSpPr>
          <p:cNvPr id="109" name="Google Shape;109;p22"/>
          <p:cNvSpPr txBox="1"/>
          <p:nvPr>
            <p:ph idx="1" type="body"/>
          </p:nvPr>
        </p:nvSpPr>
        <p:spPr>
          <a:xfrm>
            <a:off x="1344252" y="4025503"/>
            <a:ext cx="4114910" cy="603647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1pPr>
            <a:lvl2pPr indent="-228600" lvl="1" marL="9144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3pPr>
            <a:lvl4pPr indent="-228600" lvl="3" marL="18288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sz="700"/>
            </a:lvl4pPr>
            <a:lvl5pPr indent="-228600" lvl="4" marL="22860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sz="700"/>
            </a:lvl5pPr>
            <a:lvl6pPr indent="-228600" lvl="5" marL="27432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sz="700"/>
            </a:lvl6pPr>
            <a:lvl7pPr indent="-228600" lvl="6" marL="32004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sz="700"/>
            </a:lvl7pPr>
            <a:lvl8pPr indent="-228600" lvl="7" marL="36576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sz="700"/>
            </a:lvl8pPr>
            <a:lvl9pPr indent="-228600" lvl="8" marL="41148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sz="700"/>
            </a:lvl9pPr>
          </a:lstStyle>
          <a:p/>
        </p:txBody>
      </p:sp>
      <p:sp>
        <p:nvSpPr>
          <p:cNvPr id="110" name="Google Shape;110;p22"/>
          <p:cNvSpPr txBox="1"/>
          <p:nvPr>
            <p:ph idx="10" type="dt"/>
          </p:nvPr>
        </p:nvSpPr>
        <p:spPr>
          <a:xfrm>
            <a:off x="342909" y="4767263"/>
            <a:ext cx="1600243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11" name="Google Shape;111;p22"/>
          <p:cNvSpPr txBox="1"/>
          <p:nvPr>
            <p:ph idx="11" type="ftr"/>
          </p:nvPr>
        </p:nvSpPr>
        <p:spPr>
          <a:xfrm>
            <a:off x="2343212" y="4767263"/>
            <a:ext cx="2171758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12" name="Google Shape;112;p22"/>
          <p:cNvSpPr txBox="1"/>
          <p:nvPr>
            <p:ph idx="12" type="sldNum"/>
          </p:nvPr>
        </p:nvSpPr>
        <p:spPr>
          <a:xfrm>
            <a:off x="4915031" y="4767263"/>
            <a:ext cx="1600243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23"/>
          <p:cNvSpPr txBox="1"/>
          <p:nvPr>
            <p:ph type="title"/>
          </p:nvPr>
        </p:nvSpPr>
        <p:spPr>
          <a:xfrm>
            <a:off x="342909" y="205978"/>
            <a:ext cx="6172365" cy="85725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15" name="Google Shape;115;p23"/>
          <p:cNvSpPr txBox="1"/>
          <p:nvPr>
            <p:ph idx="1" type="body"/>
          </p:nvPr>
        </p:nvSpPr>
        <p:spPr>
          <a:xfrm rot="5400000">
            <a:off x="1731855" y="-188796"/>
            <a:ext cx="3394472" cy="6172365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–"/>
              <a:defRPr/>
            </a:lvl2pPr>
            <a:lvl3pPr indent="-317500" lvl="2" marL="13716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–"/>
              <a:defRPr/>
            </a:lvl4pPr>
            <a:lvl5pPr indent="-317500" lvl="4" marL="22860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»"/>
              <a:defRPr/>
            </a:lvl5pPr>
            <a:lvl6pPr indent="-317500" lvl="5" marL="27432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116" name="Google Shape;116;p23"/>
          <p:cNvSpPr txBox="1"/>
          <p:nvPr>
            <p:ph idx="10" type="dt"/>
          </p:nvPr>
        </p:nvSpPr>
        <p:spPr>
          <a:xfrm>
            <a:off x="342909" y="4767263"/>
            <a:ext cx="1600243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17" name="Google Shape;117;p23"/>
          <p:cNvSpPr txBox="1"/>
          <p:nvPr>
            <p:ph idx="11" type="ftr"/>
          </p:nvPr>
        </p:nvSpPr>
        <p:spPr>
          <a:xfrm>
            <a:off x="2343212" y="4767263"/>
            <a:ext cx="2171758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18" name="Google Shape;118;p23"/>
          <p:cNvSpPr txBox="1"/>
          <p:nvPr>
            <p:ph idx="12" type="sldNum"/>
          </p:nvPr>
        </p:nvSpPr>
        <p:spPr>
          <a:xfrm>
            <a:off x="4915031" y="4767263"/>
            <a:ext cx="1600243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24"/>
          <p:cNvSpPr txBox="1"/>
          <p:nvPr>
            <p:ph type="title"/>
          </p:nvPr>
        </p:nvSpPr>
        <p:spPr>
          <a:xfrm rot="5400000">
            <a:off x="3549406" y="1628755"/>
            <a:ext cx="4388644" cy="1543091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21" name="Google Shape;121;p24"/>
          <p:cNvSpPr txBox="1"/>
          <p:nvPr>
            <p:ph idx="1" type="body"/>
          </p:nvPr>
        </p:nvSpPr>
        <p:spPr>
          <a:xfrm rot="5400000">
            <a:off x="406072" y="142815"/>
            <a:ext cx="4388644" cy="451497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–"/>
              <a:defRPr/>
            </a:lvl2pPr>
            <a:lvl3pPr indent="-317500" lvl="2" marL="13716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–"/>
              <a:defRPr/>
            </a:lvl4pPr>
            <a:lvl5pPr indent="-317500" lvl="4" marL="22860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»"/>
              <a:defRPr/>
            </a:lvl5pPr>
            <a:lvl6pPr indent="-317500" lvl="5" marL="27432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122" name="Google Shape;122;p24"/>
          <p:cNvSpPr txBox="1"/>
          <p:nvPr>
            <p:ph idx="10" type="dt"/>
          </p:nvPr>
        </p:nvSpPr>
        <p:spPr>
          <a:xfrm>
            <a:off x="342909" y="4767263"/>
            <a:ext cx="1600243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23" name="Google Shape;123;p24"/>
          <p:cNvSpPr txBox="1"/>
          <p:nvPr>
            <p:ph idx="11" type="ftr"/>
          </p:nvPr>
        </p:nvSpPr>
        <p:spPr>
          <a:xfrm>
            <a:off x="2343212" y="4767263"/>
            <a:ext cx="2171758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24" name="Google Shape;124;p24"/>
          <p:cNvSpPr txBox="1"/>
          <p:nvPr>
            <p:ph idx="12" type="sldNum"/>
          </p:nvPr>
        </p:nvSpPr>
        <p:spPr>
          <a:xfrm>
            <a:off x="4915031" y="4767263"/>
            <a:ext cx="1600243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_rels/slideMaster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11" Type="http://schemas.openxmlformats.org/officeDocument/2006/relationships/slideLayout" Target="../slideLayouts/slideLayout22.xml"/><Relationship Id="rId10" Type="http://schemas.openxmlformats.org/officeDocument/2006/relationships/slideLayout" Target="../slideLayouts/slideLayout21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20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3"/>
          <p:cNvSpPr txBox="1"/>
          <p:nvPr>
            <p:ph type="title"/>
          </p:nvPr>
        </p:nvSpPr>
        <p:spPr>
          <a:xfrm>
            <a:off x="342909" y="205978"/>
            <a:ext cx="6172365" cy="85725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Calibri"/>
              <a:buNone/>
              <a:defRPr b="0" i="0" sz="33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9pPr>
          </a:lstStyle>
          <a:p/>
        </p:txBody>
      </p:sp>
      <p:sp>
        <p:nvSpPr>
          <p:cNvPr id="52" name="Google Shape;52;p13"/>
          <p:cNvSpPr txBox="1"/>
          <p:nvPr>
            <p:ph idx="1" type="body"/>
          </p:nvPr>
        </p:nvSpPr>
        <p:spPr>
          <a:xfrm>
            <a:off x="342909" y="1200150"/>
            <a:ext cx="6172365" cy="3394472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81000" lvl="0" marL="457200" marR="0" rtl="0" algn="l"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61950" lvl="1" marL="914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–"/>
              <a:defRPr b="0" i="0" sz="2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42900" lvl="2" marL="1371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23850" lvl="3" marL="1828800" marR="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–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23850" lvl="4" marL="2286000" marR="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»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23850" lvl="5" marL="2743200" marR="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23850" lvl="6" marL="3200400" marR="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23850" lvl="7" marL="3657600" marR="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23850" lvl="8" marL="4114800" marR="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3" name="Google Shape;53;p13"/>
          <p:cNvSpPr txBox="1"/>
          <p:nvPr>
            <p:ph idx="10" type="dt"/>
          </p:nvPr>
        </p:nvSpPr>
        <p:spPr>
          <a:xfrm>
            <a:off x="342909" y="4767263"/>
            <a:ext cx="1600243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4" name="Google Shape;54;p13"/>
          <p:cNvSpPr txBox="1"/>
          <p:nvPr>
            <p:ph idx="11" type="ftr"/>
          </p:nvPr>
        </p:nvSpPr>
        <p:spPr>
          <a:xfrm>
            <a:off x="2343212" y="4767263"/>
            <a:ext cx="2171758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5" name="Google Shape;55;p13"/>
          <p:cNvSpPr txBox="1"/>
          <p:nvPr>
            <p:ph idx="12" type="sldNum"/>
          </p:nvPr>
        </p:nvSpPr>
        <p:spPr>
          <a:xfrm>
            <a:off x="4915031" y="4767263"/>
            <a:ext cx="1600243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59" r:id="rId1"/>
    <p:sldLayoutId id="2147483660" r:id="rId2"/>
    <p:sldLayoutId id="2147483661" r:id="rId3"/>
    <p:sldLayoutId id="2147483662" r:id="rId4"/>
    <p:sldLayoutId id="2147483663" r:id="rId5"/>
    <p:sldLayoutId id="2147483664" r:id="rId6"/>
    <p:sldLayoutId id="2147483665" r:id="rId7"/>
    <p:sldLayoutId id="2147483666" r:id="rId8"/>
    <p:sldLayoutId id="2147483667" r:id="rId9"/>
    <p:sldLayoutId id="2147483668" r:id="rId10"/>
    <p:sldLayoutId id="214748366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25"/>
          <p:cNvSpPr/>
          <p:nvPr/>
        </p:nvSpPr>
        <p:spPr>
          <a:xfrm>
            <a:off x="0" y="0"/>
            <a:ext cx="9144015" cy="754380"/>
          </a:xfrm>
          <a:prstGeom prst="rect">
            <a:avLst/>
          </a:prstGeom>
          <a:solidFill>
            <a:srgbClr val="176B87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0" name="Google Shape;130;p25"/>
          <p:cNvSpPr txBox="1"/>
          <p:nvPr/>
        </p:nvSpPr>
        <p:spPr>
          <a:xfrm>
            <a:off x="411491" y="137160"/>
            <a:ext cx="8229819" cy="48006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2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Global Superstore: Sales &amp; Profitability</a:t>
            </a:r>
            <a:endParaRPr sz="1100"/>
          </a:p>
        </p:txBody>
      </p:sp>
      <p:sp>
        <p:nvSpPr>
          <p:cNvPr id="131" name="Google Shape;131;p25"/>
          <p:cNvSpPr txBox="1"/>
          <p:nvPr/>
        </p:nvSpPr>
        <p:spPr>
          <a:xfrm>
            <a:off x="548655" y="1028700"/>
            <a:ext cx="8161200" cy="28023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300">
                <a:solidFill>
                  <a:schemeClr val="dk1"/>
                </a:solidFill>
              </a:rPr>
              <a:t>Objective:</a:t>
            </a:r>
            <a:r>
              <a:rPr lang="en" sz="1300">
                <a:solidFill>
                  <a:schemeClr val="dk1"/>
                </a:solidFill>
              </a:rPr>
              <a:t> Identify opportunities to improve profitability through product, regional and discount analysis.</a:t>
            </a:r>
            <a:endParaRPr sz="13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300">
                <a:solidFill>
                  <a:schemeClr val="dk1"/>
                </a:solidFill>
              </a:rPr>
              <a:t>Dataset Overview</a:t>
            </a:r>
            <a:endParaRPr b="1" sz="1300">
              <a:solidFill>
                <a:schemeClr val="dk1"/>
              </a:solidFill>
            </a:endParaRPr>
          </a:p>
          <a:p>
            <a:pPr indent="-3111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300"/>
              <a:buChar char="●"/>
            </a:pPr>
            <a:r>
              <a:rPr lang="en" sz="1300">
                <a:solidFill>
                  <a:schemeClr val="dk1"/>
                </a:solidFill>
              </a:rPr>
              <a:t>Records: 51,290</a:t>
            </a:r>
            <a:endParaRPr sz="1300">
              <a:solidFill>
                <a:schemeClr val="dk1"/>
              </a:solidFill>
            </a:endParaRPr>
          </a:p>
          <a:p>
            <a:pPr indent="-3111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Char char="●"/>
            </a:pPr>
            <a:r>
              <a:rPr lang="en" sz="1300">
                <a:solidFill>
                  <a:schemeClr val="dk1"/>
                </a:solidFill>
              </a:rPr>
              <a:t>Columns: 27</a:t>
            </a:r>
            <a:endParaRPr sz="1300">
              <a:solidFill>
                <a:schemeClr val="dk1"/>
              </a:solidFill>
            </a:endParaRPr>
          </a:p>
          <a:p>
            <a:pPr indent="-3111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Char char="●"/>
            </a:pPr>
            <a:r>
              <a:rPr lang="en" sz="1300">
                <a:solidFill>
                  <a:schemeClr val="dk1"/>
                </a:solidFill>
              </a:rPr>
              <a:t>Period: 2011–2014</a:t>
            </a:r>
            <a:endParaRPr sz="1300">
              <a:solidFill>
                <a:schemeClr val="dk1"/>
              </a:solidFill>
            </a:endParaRPr>
          </a:p>
          <a:p>
            <a:pPr indent="-3111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Char char="●"/>
            </a:pPr>
            <a:r>
              <a:rPr lang="en" sz="1300">
                <a:solidFill>
                  <a:schemeClr val="dk1"/>
                </a:solidFill>
              </a:rPr>
              <a:t>Total Sales: 12,642,905</a:t>
            </a:r>
            <a:endParaRPr sz="1300">
              <a:solidFill>
                <a:schemeClr val="dk1"/>
              </a:solidFill>
            </a:endParaRPr>
          </a:p>
          <a:p>
            <a:pPr indent="-3111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Char char="●"/>
            </a:pPr>
            <a:r>
              <a:rPr lang="en" sz="1300">
                <a:solidFill>
                  <a:schemeClr val="dk1"/>
                </a:solidFill>
              </a:rPr>
              <a:t>Total Profit: 1,467,457.29</a:t>
            </a:r>
            <a:endParaRPr sz="1300">
              <a:solidFill>
                <a:schemeClr val="dk1"/>
              </a:solidFill>
            </a:endParaRPr>
          </a:p>
          <a:p>
            <a:pPr indent="-3111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Char char="●"/>
            </a:pPr>
            <a:r>
              <a:rPr lang="en" sz="1300">
                <a:solidFill>
                  <a:schemeClr val="dk1"/>
                </a:solidFill>
              </a:rPr>
              <a:t>Overall Profit Margin: 11.61%</a:t>
            </a:r>
            <a:endParaRPr sz="13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SzPts val="1100"/>
              <a:buNone/>
            </a:pPr>
            <a:r>
              <a:rPr b="1" lang="en" sz="1300">
                <a:solidFill>
                  <a:schemeClr val="dk1"/>
                </a:solidFill>
              </a:rPr>
              <a:t>Business Goal:</a:t>
            </a:r>
            <a:r>
              <a:rPr lang="en" sz="1300">
                <a:solidFill>
                  <a:schemeClr val="dk1"/>
                </a:solidFill>
              </a:rPr>
              <a:t> Understand where the business earns profit, where it loses money, and what management can do to improve performance.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p26"/>
          <p:cNvSpPr/>
          <p:nvPr/>
        </p:nvSpPr>
        <p:spPr>
          <a:xfrm>
            <a:off x="0" y="0"/>
            <a:ext cx="9144015" cy="754380"/>
          </a:xfrm>
          <a:prstGeom prst="rect">
            <a:avLst/>
          </a:prstGeom>
          <a:solidFill>
            <a:srgbClr val="176B87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7" name="Google Shape;137;p26"/>
          <p:cNvSpPr txBox="1"/>
          <p:nvPr/>
        </p:nvSpPr>
        <p:spPr>
          <a:xfrm>
            <a:off x="411491" y="137160"/>
            <a:ext cx="8229819" cy="48006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2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Data &amp; Methodology</a:t>
            </a:r>
            <a:endParaRPr sz="1100"/>
          </a:p>
        </p:txBody>
      </p:sp>
      <p:sp>
        <p:nvSpPr>
          <p:cNvPr id="138" name="Google Shape;138;p26"/>
          <p:cNvSpPr txBox="1"/>
          <p:nvPr/>
        </p:nvSpPr>
        <p:spPr>
          <a:xfrm>
            <a:off x="541180" y="894125"/>
            <a:ext cx="8161200" cy="39543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300">
                <a:solidFill>
                  <a:schemeClr val="dk1"/>
                </a:solidFill>
              </a:rPr>
              <a:t>Dataset:</a:t>
            </a:r>
            <a:r>
              <a:rPr lang="en" sz="1300">
                <a:solidFill>
                  <a:schemeClr val="dk1"/>
                </a:solidFill>
              </a:rPr>
              <a:t> Global Superstore retail dataset</a:t>
            </a:r>
            <a:endParaRPr sz="13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300">
                <a:solidFill>
                  <a:schemeClr val="dk1"/>
                </a:solidFill>
              </a:rPr>
              <a:t>Tools Used:</a:t>
            </a:r>
            <a:r>
              <a:rPr lang="en" sz="1300">
                <a:solidFill>
                  <a:schemeClr val="dk1"/>
                </a:solidFill>
              </a:rPr>
              <a:t> Python, Pandas, NumPy, Matplotlib and Google Sheets</a:t>
            </a:r>
            <a:endParaRPr sz="13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100"/>
              <a:buNone/>
            </a:pPr>
            <a:r>
              <a:rPr b="1" lang="en" sz="1300">
                <a:solidFill>
                  <a:schemeClr val="dk1"/>
                </a:solidFill>
              </a:rPr>
              <a:t>Data Preparation</a:t>
            </a:r>
            <a:endParaRPr b="1" sz="1300">
              <a:solidFill>
                <a:schemeClr val="dk1"/>
              </a:solidFill>
            </a:endParaRPr>
          </a:p>
          <a:p>
            <a:pPr indent="-3111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300"/>
              <a:buChar char="●"/>
            </a:pPr>
            <a:r>
              <a:rPr lang="en" sz="1300">
                <a:solidFill>
                  <a:schemeClr val="dk1"/>
                </a:solidFill>
              </a:rPr>
              <a:t>Checked missing values and duplicate records.</a:t>
            </a:r>
            <a:endParaRPr sz="1300">
              <a:solidFill>
                <a:schemeClr val="dk1"/>
              </a:solidFill>
            </a:endParaRPr>
          </a:p>
          <a:p>
            <a:pPr indent="-3111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Char char="●"/>
            </a:pPr>
            <a:r>
              <a:rPr lang="en" sz="1300">
                <a:solidFill>
                  <a:schemeClr val="dk1"/>
                </a:solidFill>
              </a:rPr>
              <a:t>Validated date and numeric data types.</a:t>
            </a:r>
            <a:endParaRPr sz="1300">
              <a:solidFill>
                <a:schemeClr val="dk1"/>
              </a:solidFill>
            </a:endParaRPr>
          </a:p>
          <a:p>
            <a:pPr indent="-3111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Char char="●"/>
            </a:pPr>
            <a:r>
              <a:rPr lang="en" sz="1300">
                <a:solidFill>
                  <a:schemeClr val="dk1"/>
                </a:solidFill>
              </a:rPr>
              <a:t>Created Profit Margin, Shipping Days and Order Year fields.</a:t>
            </a:r>
            <a:endParaRPr sz="1300">
              <a:solidFill>
                <a:schemeClr val="dk1"/>
              </a:solidFill>
            </a:endParaRPr>
          </a:p>
          <a:p>
            <a:pPr indent="-3111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Char char="●"/>
            </a:pPr>
            <a:r>
              <a:rPr lang="en" sz="1300">
                <a:solidFill>
                  <a:schemeClr val="dk1"/>
                </a:solidFill>
              </a:rPr>
              <a:t>Preserved valid negative profit values.</a:t>
            </a:r>
            <a:endParaRPr sz="13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300">
                <a:solidFill>
                  <a:schemeClr val="dk1"/>
                </a:solidFill>
              </a:rPr>
              <a:t>Analysis Performed</a:t>
            </a:r>
            <a:endParaRPr b="1" sz="1300">
              <a:solidFill>
                <a:schemeClr val="dk1"/>
              </a:solidFill>
            </a:endParaRPr>
          </a:p>
          <a:p>
            <a:pPr indent="-3111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300"/>
              <a:buChar char="●"/>
            </a:pPr>
            <a:r>
              <a:rPr lang="en" sz="1300">
                <a:solidFill>
                  <a:schemeClr val="dk1"/>
                </a:solidFill>
              </a:rPr>
              <a:t>Category and sub-category profitability</a:t>
            </a:r>
            <a:endParaRPr sz="1300">
              <a:solidFill>
                <a:schemeClr val="dk1"/>
              </a:solidFill>
            </a:endParaRPr>
          </a:p>
          <a:p>
            <a:pPr indent="-3111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Char char="●"/>
            </a:pPr>
            <a:r>
              <a:rPr lang="en" sz="1300">
                <a:solidFill>
                  <a:schemeClr val="dk1"/>
                </a:solidFill>
              </a:rPr>
              <a:t>Regional performance comparison</a:t>
            </a:r>
            <a:endParaRPr sz="1300">
              <a:solidFill>
                <a:schemeClr val="dk1"/>
              </a:solidFill>
            </a:endParaRPr>
          </a:p>
          <a:p>
            <a:pPr indent="-3111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Char char="●"/>
            </a:pPr>
            <a:r>
              <a:rPr lang="en" sz="1300">
                <a:solidFill>
                  <a:schemeClr val="dk1"/>
                </a:solidFill>
              </a:rPr>
              <a:t>Yearly sales and profit trends</a:t>
            </a:r>
            <a:endParaRPr sz="1300">
              <a:solidFill>
                <a:schemeClr val="dk1"/>
              </a:solidFill>
            </a:endParaRPr>
          </a:p>
          <a:p>
            <a:pPr indent="-3111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Char char="●"/>
            </a:pPr>
            <a:r>
              <a:rPr lang="en" sz="1300">
                <a:solidFill>
                  <a:schemeClr val="dk1"/>
                </a:solidFill>
              </a:rPr>
              <a:t>Discount versus profitability analysis</a:t>
            </a:r>
            <a:endParaRPr sz="13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SzPts val="1100"/>
              <a:buNone/>
            </a:pPr>
            <a:r>
              <a:rPr b="1" lang="en" sz="1300">
                <a:solidFill>
                  <a:schemeClr val="dk1"/>
                </a:solidFill>
              </a:rPr>
              <a:t>Method:</a:t>
            </a:r>
            <a:r>
              <a:rPr lang="en" sz="1300">
                <a:solidFill>
                  <a:schemeClr val="dk1"/>
                </a:solidFill>
              </a:rPr>
              <a:t> Descriptive analysis using grouped summaries, aggregate calculations and visualizations.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p27"/>
          <p:cNvSpPr/>
          <p:nvPr/>
        </p:nvSpPr>
        <p:spPr>
          <a:xfrm>
            <a:off x="0" y="0"/>
            <a:ext cx="9144015" cy="754380"/>
          </a:xfrm>
          <a:prstGeom prst="rect">
            <a:avLst/>
          </a:prstGeom>
          <a:solidFill>
            <a:srgbClr val="176B87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4" name="Google Shape;144;p27"/>
          <p:cNvSpPr txBox="1"/>
          <p:nvPr/>
        </p:nvSpPr>
        <p:spPr>
          <a:xfrm>
            <a:off x="411491" y="137160"/>
            <a:ext cx="8229819" cy="48006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2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Key Findings</a:t>
            </a:r>
            <a:endParaRPr sz="1100"/>
          </a:p>
        </p:txBody>
      </p:sp>
      <p:sp>
        <p:nvSpPr>
          <p:cNvPr id="145" name="Google Shape;145;p27"/>
          <p:cNvSpPr txBox="1"/>
          <p:nvPr/>
        </p:nvSpPr>
        <p:spPr>
          <a:xfrm>
            <a:off x="548652" y="1163268"/>
            <a:ext cx="4138800" cy="23418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300">
                <a:solidFill>
                  <a:schemeClr val="dk1"/>
                </a:solidFill>
              </a:rPr>
              <a:t>1. Technology leads category performance</a:t>
            </a:r>
            <a:endParaRPr b="1" sz="1300">
              <a:solidFill>
                <a:schemeClr val="dk1"/>
              </a:solidFill>
            </a:endParaRPr>
          </a:p>
          <a:p>
            <a:pPr indent="-3111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300"/>
              <a:buChar char="●"/>
            </a:pPr>
            <a:r>
              <a:rPr lang="en" sz="1300">
                <a:solidFill>
                  <a:schemeClr val="dk1"/>
                </a:solidFill>
              </a:rPr>
              <a:t>Sales: 4,744,691</a:t>
            </a:r>
            <a:endParaRPr sz="1300">
              <a:solidFill>
                <a:schemeClr val="dk1"/>
              </a:solidFill>
            </a:endParaRPr>
          </a:p>
          <a:p>
            <a:pPr indent="-3111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Char char="●"/>
            </a:pPr>
            <a:r>
              <a:rPr lang="en" sz="1300">
                <a:solidFill>
                  <a:schemeClr val="dk1"/>
                </a:solidFill>
              </a:rPr>
              <a:t>Profit: 663,778.73</a:t>
            </a:r>
            <a:endParaRPr sz="1300">
              <a:solidFill>
                <a:schemeClr val="dk1"/>
              </a:solidFill>
            </a:endParaRPr>
          </a:p>
          <a:p>
            <a:pPr indent="-3111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Char char="●"/>
            </a:pPr>
            <a:r>
              <a:rPr lang="en" sz="1300">
                <a:solidFill>
                  <a:schemeClr val="dk1"/>
                </a:solidFill>
              </a:rPr>
              <a:t>Profit Margin: 13.99%</a:t>
            </a:r>
            <a:endParaRPr sz="13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300">
                <a:solidFill>
                  <a:schemeClr val="dk1"/>
                </a:solidFill>
              </a:rPr>
              <a:t>2. Furniture has a lower profit margin</a:t>
            </a:r>
            <a:endParaRPr b="1" sz="1300">
              <a:solidFill>
                <a:schemeClr val="dk1"/>
              </a:solidFill>
            </a:endParaRPr>
          </a:p>
          <a:p>
            <a:pPr indent="-3111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300"/>
              <a:buChar char="●"/>
            </a:pPr>
            <a:r>
              <a:rPr lang="en" sz="1300">
                <a:solidFill>
                  <a:schemeClr val="dk1"/>
                </a:solidFill>
              </a:rPr>
              <a:t>Furniture: 6.94%</a:t>
            </a:r>
            <a:endParaRPr sz="1300">
              <a:solidFill>
                <a:schemeClr val="dk1"/>
              </a:solidFill>
            </a:endParaRPr>
          </a:p>
          <a:p>
            <a:pPr indent="-3111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Char char="●"/>
            </a:pPr>
            <a:r>
              <a:rPr lang="en" sz="1300">
                <a:solidFill>
                  <a:schemeClr val="dk1"/>
                </a:solidFill>
              </a:rPr>
              <a:t>Office Supplies: 13.69%</a:t>
            </a:r>
            <a:endParaRPr sz="1300">
              <a:solidFill>
                <a:schemeClr val="dk1"/>
              </a:solidFill>
            </a:endParaRPr>
          </a:p>
          <a:p>
            <a:pPr indent="-3111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Char char="●"/>
            </a:pPr>
            <a:r>
              <a:rPr lang="en" sz="1300">
                <a:solidFill>
                  <a:schemeClr val="dk1"/>
                </a:solidFill>
              </a:rPr>
              <a:t>Technology: 13.99%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6" name="Google Shape;146;p27"/>
          <p:cNvSpPr txBox="1"/>
          <p:nvPr/>
        </p:nvSpPr>
        <p:spPr>
          <a:xfrm>
            <a:off x="4687452" y="1190118"/>
            <a:ext cx="4138800" cy="22038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rtl="0" algn="l">
              <a:lnSpc>
                <a:spcPct val="138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300">
                <a:solidFill>
                  <a:schemeClr val="dk1"/>
                </a:solidFill>
              </a:rPr>
              <a:t>3. Tables is a loss-making sub-category</a:t>
            </a:r>
            <a:endParaRPr b="1" sz="1300">
              <a:solidFill>
                <a:schemeClr val="dk1"/>
              </a:solidFill>
            </a:endParaRPr>
          </a:p>
          <a:p>
            <a:pPr indent="-3111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300"/>
              <a:buChar char="●"/>
            </a:pPr>
            <a:r>
              <a:rPr lang="en" sz="1300">
                <a:solidFill>
                  <a:schemeClr val="dk1"/>
                </a:solidFill>
              </a:rPr>
              <a:t>Total Sales: 757,034</a:t>
            </a:r>
            <a:endParaRPr sz="1300">
              <a:solidFill>
                <a:schemeClr val="dk1"/>
              </a:solidFill>
            </a:endParaRPr>
          </a:p>
          <a:p>
            <a:pPr indent="-3111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Char char="●"/>
            </a:pPr>
            <a:r>
              <a:rPr lang="en" sz="1300">
                <a:solidFill>
                  <a:schemeClr val="dk1"/>
                </a:solidFill>
              </a:rPr>
              <a:t>Total Profit: −64,083.39</a:t>
            </a:r>
            <a:endParaRPr sz="13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38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300">
                <a:solidFill>
                  <a:schemeClr val="dk1"/>
                </a:solidFill>
              </a:rPr>
              <a:t>4. Sales grew over the period</a:t>
            </a:r>
            <a:endParaRPr b="1" sz="1300">
              <a:solidFill>
                <a:schemeClr val="dk1"/>
              </a:solidFill>
            </a:endParaRPr>
          </a:p>
          <a:p>
            <a:pPr indent="-3111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300"/>
              <a:buChar char="●"/>
            </a:pPr>
            <a:r>
              <a:rPr lang="en" sz="1300">
                <a:solidFill>
                  <a:schemeClr val="dk1"/>
                </a:solidFill>
              </a:rPr>
              <a:t>2011 Sales: 2,259,511</a:t>
            </a:r>
            <a:endParaRPr sz="1300">
              <a:solidFill>
                <a:schemeClr val="dk1"/>
              </a:solidFill>
            </a:endParaRPr>
          </a:p>
          <a:p>
            <a:pPr indent="-3111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Char char="●"/>
            </a:pPr>
            <a:r>
              <a:rPr lang="en" sz="1300">
                <a:solidFill>
                  <a:schemeClr val="dk1"/>
                </a:solidFill>
              </a:rPr>
              <a:t>2014 Sales: 4,300,041</a:t>
            </a:r>
            <a:endParaRPr sz="1300">
              <a:solidFill>
                <a:schemeClr val="dk1"/>
              </a:solidFill>
            </a:endParaRPr>
          </a:p>
          <a:p>
            <a:pPr indent="-3111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Char char="●"/>
            </a:pPr>
            <a:r>
              <a:rPr lang="en" sz="1300">
                <a:solidFill>
                  <a:schemeClr val="dk1"/>
                </a:solidFill>
              </a:rPr>
              <a:t>Increase: Approximately 90.3%</a:t>
            </a:r>
            <a:endParaRPr b="1" sz="1300">
              <a:solidFill>
                <a:schemeClr val="dk1"/>
              </a:solidFill>
            </a:endParaRPr>
          </a:p>
        </p:txBody>
      </p:sp>
      <p:sp>
        <p:nvSpPr>
          <p:cNvPr id="147" name="Google Shape;147;p27"/>
          <p:cNvSpPr txBox="1"/>
          <p:nvPr/>
        </p:nvSpPr>
        <p:spPr>
          <a:xfrm>
            <a:off x="411500" y="3727901"/>
            <a:ext cx="7622700" cy="2694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-3111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Char char="●"/>
            </a:pPr>
            <a:r>
              <a:rPr b="1" lang="en" sz="1300">
                <a:solidFill>
                  <a:schemeClr val="dk1"/>
                </a:solidFill>
              </a:rPr>
              <a:t>Key Message:</a:t>
            </a:r>
            <a:r>
              <a:rPr lang="en" sz="1300">
                <a:solidFill>
                  <a:schemeClr val="dk1"/>
                </a:solidFill>
              </a:rPr>
              <a:t> Higher sales do not necessarily translate into higher profitability. </a:t>
            </a:r>
            <a:endParaRPr b="1" sz="13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p28"/>
          <p:cNvSpPr/>
          <p:nvPr/>
        </p:nvSpPr>
        <p:spPr>
          <a:xfrm>
            <a:off x="0" y="0"/>
            <a:ext cx="9144015" cy="754380"/>
          </a:xfrm>
          <a:prstGeom prst="rect">
            <a:avLst/>
          </a:prstGeom>
          <a:solidFill>
            <a:srgbClr val="176B87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3" name="Google Shape;153;p28"/>
          <p:cNvSpPr txBox="1"/>
          <p:nvPr/>
        </p:nvSpPr>
        <p:spPr>
          <a:xfrm>
            <a:off x="411491" y="137160"/>
            <a:ext cx="8229819" cy="48006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2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Deep Dive: Discounts &amp; Profitability</a:t>
            </a:r>
            <a:endParaRPr sz="1100"/>
          </a:p>
        </p:txBody>
      </p:sp>
      <p:sp>
        <p:nvSpPr>
          <p:cNvPr id="154" name="Google Shape;154;p28"/>
          <p:cNvSpPr txBox="1"/>
          <p:nvPr/>
        </p:nvSpPr>
        <p:spPr>
          <a:xfrm>
            <a:off x="548655" y="864225"/>
            <a:ext cx="8161200" cy="40290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100"/>
              <a:buNone/>
            </a:pPr>
            <a:r>
              <a:rPr b="1" lang="en" sz="1300">
                <a:solidFill>
                  <a:schemeClr val="dk1"/>
                </a:solidFill>
              </a:rPr>
              <a:t>Key Observation:</a:t>
            </a:r>
            <a:r>
              <a:rPr lang="en" sz="1300">
                <a:solidFill>
                  <a:schemeClr val="dk1"/>
                </a:solidFill>
              </a:rPr>
              <a:t> High-discount transactions are associated with substantially weaker profitability in this dataset.</a:t>
            </a:r>
            <a:br>
              <a:rPr lang="en" sz="1300">
                <a:solidFill>
                  <a:schemeClr val="dk1"/>
                </a:solidFill>
              </a:rPr>
            </a:br>
            <a:r>
              <a:rPr b="1" lang="en" sz="1300">
                <a:solidFill>
                  <a:schemeClr val="dk1"/>
                </a:solidFill>
              </a:rPr>
              <a:t>Evidence</a:t>
            </a:r>
            <a:endParaRPr b="1" sz="1300">
              <a:solidFill>
                <a:schemeClr val="dk1"/>
              </a:solidFill>
            </a:endParaRPr>
          </a:p>
          <a:p>
            <a:pPr indent="-3111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300"/>
              <a:buChar char="●"/>
            </a:pPr>
            <a:r>
              <a:rPr lang="en" sz="1300">
                <a:solidFill>
                  <a:schemeClr val="dk1"/>
                </a:solidFill>
              </a:rPr>
              <a:t>Transactions with zero discount:</a:t>
            </a:r>
            <a:endParaRPr sz="1300">
              <a:solidFill>
                <a:schemeClr val="dk1"/>
              </a:solidFill>
            </a:endParaRPr>
          </a:p>
          <a:p>
            <a:pPr indent="-3111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Char char="○"/>
            </a:pPr>
            <a:r>
              <a:rPr lang="en" sz="1300">
                <a:solidFill>
                  <a:schemeClr val="dk1"/>
                </a:solidFill>
              </a:rPr>
              <a:t>Sales: 6,992,734</a:t>
            </a:r>
            <a:endParaRPr sz="1300">
              <a:solidFill>
                <a:schemeClr val="dk1"/>
              </a:solidFill>
            </a:endParaRPr>
          </a:p>
          <a:p>
            <a:pPr indent="-3111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Char char="○"/>
            </a:pPr>
            <a:r>
              <a:rPr lang="en" sz="1300">
                <a:solidFill>
                  <a:schemeClr val="dk1"/>
                </a:solidFill>
              </a:rPr>
              <a:t>Profit: 1,770,695.27</a:t>
            </a:r>
            <a:endParaRPr sz="1300">
              <a:solidFill>
                <a:schemeClr val="dk1"/>
              </a:solidFill>
            </a:endParaRPr>
          </a:p>
          <a:p>
            <a:pPr indent="-3111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Char char="○"/>
            </a:pPr>
            <a:r>
              <a:rPr lang="en" sz="1300">
                <a:solidFill>
                  <a:schemeClr val="dk1"/>
                </a:solidFill>
              </a:rPr>
              <a:t>Aggregate Profit Margin: 25.32%</a:t>
            </a:r>
            <a:endParaRPr sz="1300">
              <a:solidFill>
                <a:schemeClr val="dk1"/>
              </a:solidFill>
            </a:endParaRPr>
          </a:p>
          <a:p>
            <a:pPr indent="-3111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Char char="●"/>
            </a:pPr>
            <a:r>
              <a:rPr lang="en" sz="1300">
                <a:solidFill>
                  <a:schemeClr val="dk1"/>
                </a:solidFill>
              </a:rPr>
              <a:t>Transactions with discounts of 50% or higher:</a:t>
            </a:r>
            <a:endParaRPr sz="1300">
              <a:solidFill>
                <a:schemeClr val="dk1"/>
              </a:solidFill>
            </a:endParaRPr>
          </a:p>
          <a:p>
            <a:pPr indent="-3111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Char char="○"/>
            </a:pPr>
            <a:r>
              <a:rPr lang="en" sz="1300">
                <a:solidFill>
                  <a:schemeClr val="dk1"/>
                </a:solidFill>
              </a:rPr>
              <a:t>Sales: 695,769</a:t>
            </a:r>
            <a:endParaRPr sz="1300">
              <a:solidFill>
                <a:schemeClr val="dk1"/>
              </a:solidFill>
            </a:endParaRPr>
          </a:p>
          <a:p>
            <a:pPr indent="-3111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Char char="○"/>
            </a:pPr>
            <a:r>
              <a:rPr lang="en" sz="1300">
                <a:solidFill>
                  <a:schemeClr val="dk1"/>
                </a:solidFill>
              </a:rPr>
              <a:t>Profit: −571,211.54</a:t>
            </a:r>
            <a:endParaRPr sz="1300">
              <a:solidFill>
                <a:schemeClr val="dk1"/>
              </a:solidFill>
            </a:endParaRPr>
          </a:p>
          <a:p>
            <a:pPr indent="-3111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Char char="○"/>
            </a:pPr>
            <a:r>
              <a:rPr lang="en" sz="1300">
                <a:solidFill>
                  <a:schemeClr val="dk1"/>
                </a:solidFill>
              </a:rPr>
              <a:t>Aggregate Profit Margin: −82.10%</a:t>
            </a:r>
            <a:endParaRPr sz="13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SzPts val="1100"/>
              <a:buNone/>
            </a:pPr>
            <a:r>
              <a:rPr b="1" lang="en" sz="1300">
                <a:solidFill>
                  <a:schemeClr val="dk1"/>
                </a:solidFill>
              </a:rPr>
              <a:t>Business Interpretation</a:t>
            </a:r>
            <a:br>
              <a:rPr b="1" lang="en" sz="1300">
                <a:solidFill>
                  <a:schemeClr val="dk1"/>
                </a:solidFill>
              </a:rPr>
            </a:br>
            <a:r>
              <a:rPr lang="en" sz="1300">
                <a:solidFill>
                  <a:schemeClr val="dk1"/>
                </a:solidFill>
              </a:rPr>
              <a:t>The high-discount group generates an aggregate loss despite recording sales. This makes discounting an important area for further investigation.</a:t>
            </a:r>
            <a:br>
              <a:rPr lang="en" sz="800">
                <a:solidFill>
                  <a:schemeClr val="dk1"/>
                </a:solidFill>
              </a:rPr>
            </a:br>
            <a:r>
              <a:rPr b="1" lang="en" sz="1300">
                <a:solidFill>
                  <a:schemeClr val="dk1"/>
                </a:solidFill>
              </a:rPr>
              <a:t>Important Limitation:</a:t>
            </a:r>
            <a:r>
              <a:rPr lang="en" sz="1300">
                <a:solidFill>
                  <a:schemeClr val="dk1"/>
                </a:solidFill>
              </a:rPr>
              <a:t> This is an observed association, not proof that discounts alone caused the losses. Product mix, costs and other factors may also contribute.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p29"/>
          <p:cNvSpPr/>
          <p:nvPr/>
        </p:nvSpPr>
        <p:spPr>
          <a:xfrm>
            <a:off x="0" y="0"/>
            <a:ext cx="9144015" cy="754380"/>
          </a:xfrm>
          <a:prstGeom prst="rect">
            <a:avLst/>
          </a:prstGeom>
          <a:solidFill>
            <a:srgbClr val="176B87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0" name="Google Shape;160;p29"/>
          <p:cNvSpPr txBox="1"/>
          <p:nvPr/>
        </p:nvSpPr>
        <p:spPr>
          <a:xfrm>
            <a:off x="411491" y="137160"/>
            <a:ext cx="8229819" cy="48006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2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Recommendations</a:t>
            </a:r>
            <a:endParaRPr sz="1100"/>
          </a:p>
        </p:txBody>
      </p:sp>
      <p:sp>
        <p:nvSpPr>
          <p:cNvPr id="161" name="Google Shape;161;p29"/>
          <p:cNvSpPr txBox="1"/>
          <p:nvPr/>
        </p:nvSpPr>
        <p:spPr>
          <a:xfrm>
            <a:off x="533705" y="901600"/>
            <a:ext cx="8161200" cy="41844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300">
                <a:solidFill>
                  <a:schemeClr val="dk1"/>
                </a:solidFill>
              </a:rPr>
              <a:t>Priority 1: Review Loss-Making Products</a:t>
            </a:r>
            <a:endParaRPr b="1" sz="1300">
              <a:solidFill>
                <a:schemeClr val="dk1"/>
              </a:solidFill>
            </a:endParaRPr>
          </a:p>
          <a:p>
            <a:pPr indent="-3111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300"/>
              <a:buChar char="●"/>
            </a:pPr>
            <a:r>
              <a:rPr lang="en" sz="1300">
                <a:solidFill>
                  <a:schemeClr val="dk1"/>
                </a:solidFill>
              </a:rPr>
              <a:t>Investigate Tables and other low-profit sub-categories.</a:t>
            </a:r>
            <a:endParaRPr sz="1300">
              <a:solidFill>
                <a:schemeClr val="dk1"/>
              </a:solidFill>
            </a:endParaRPr>
          </a:p>
          <a:p>
            <a:pPr indent="-3111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Char char="●"/>
            </a:pPr>
            <a:r>
              <a:rPr lang="en" sz="1300">
                <a:solidFill>
                  <a:schemeClr val="dk1"/>
                </a:solidFill>
              </a:rPr>
              <a:t>Review pricing, discounts, costs and product mix.</a:t>
            </a:r>
            <a:endParaRPr sz="1300">
              <a:solidFill>
                <a:schemeClr val="dk1"/>
              </a:solidFill>
            </a:endParaRPr>
          </a:p>
          <a:p>
            <a:pPr indent="-3111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Char char="●"/>
            </a:pPr>
            <a:r>
              <a:rPr lang="en" sz="1300">
                <a:solidFill>
                  <a:schemeClr val="dk1"/>
                </a:solidFill>
              </a:rPr>
              <a:t>Owner: Category Management and Finance.</a:t>
            </a:r>
            <a:endParaRPr sz="13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300">
                <a:solidFill>
                  <a:schemeClr val="dk1"/>
                </a:solidFill>
              </a:rPr>
              <a:t>Priority 2: Improve Discount Control</a:t>
            </a:r>
            <a:endParaRPr b="1" sz="1300">
              <a:solidFill>
                <a:schemeClr val="dk1"/>
              </a:solidFill>
            </a:endParaRPr>
          </a:p>
          <a:p>
            <a:pPr indent="-3111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300"/>
              <a:buChar char="●"/>
            </a:pPr>
            <a:r>
              <a:rPr lang="en" sz="1300">
                <a:solidFill>
                  <a:schemeClr val="dk1"/>
                </a:solidFill>
              </a:rPr>
              <a:t>Audit transactions with discounts of 50% or higher.</a:t>
            </a:r>
            <a:endParaRPr sz="1300">
              <a:solidFill>
                <a:schemeClr val="dk1"/>
              </a:solidFill>
            </a:endParaRPr>
          </a:p>
          <a:p>
            <a:pPr indent="-3111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Char char="●"/>
            </a:pPr>
            <a:r>
              <a:rPr lang="en" sz="1300">
                <a:solidFill>
                  <a:schemeClr val="dk1"/>
                </a:solidFill>
              </a:rPr>
              <a:t>Consider margin-based approval thresholds.</a:t>
            </a:r>
            <a:endParaRPr sz="1300">
              <a:solidFill>
                <a:schemeClr val="dk1"/>
              </a:solidFill>
            </a:endParaRPr>
          </a:p>
          <a:p>
            <a:pPr indent="-3111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Char char="●"/>
            </a:pPr>
            <a:r>
              <a:rPr lang="en" sz="1300">
                <a:solidFill>
                  <a:schemeClr val="dk1"/>
                </a:solidFill>
              </a:rPr>
              <a:t>Owner: Sales, Pricing and Finance teams.</a:t>
            </a:r>
            <a:endParaRPr sz="13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300">
                <a:solidFill>
                  <a:schemeClr val="dk1"/>
                </a:solidFill>
              </a:rPr>
              <a:t>Priority 3: Improve Category Profitability</a:t>
            </a:r>
            <a:endParaRPr b="1" sz="1300">
              <a:solidFill>
                <a:schemeClr val="dk1"/>
              </a:solidFill>
            </a:endParaRPr>
          </a:p>
          <a:p>
            <a:pPr indent="-3111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300"/>
              <a:buChar char="●"/>
            </a:pPr>
            <a:r>
              <a:rPr lang="en" sz="1300">
                <a:solidFill>
                  <a:schemeClr val="dk1"/>
                </a:solidFill>
              </a:rPr>
              <a:t>Investigate why Furniture has a lower margin than other categories.</a:t>
            </a:r>
            <a:endParaRPr sz="1300">
              <a:solidFill>
                <a:schemeClr val="dk1"/>
              </a:solidFill>
            </a:endParaRPr>
          </a:p>
          <a:p>
            <a:pPr indent="-3111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Char char="●"/>
            </a:pPr>
            <a:r>
              <a:rPr lang="en" sz="1300">
                <a:solidFill>
                  <a:schemeClr val="dk1"/>
                </a:solidFill>
              </a:rPr>
              <a:t>Identify opportunities to improve pricing and product mix.</a:t>
            </a:r>
            <a:endParaRPr sz="1300">
              <a:solidFill>
                <a:schemeClr val="dk1"/>
              </a:solidFill>
            </a:endParaRPr>
          </a:p>
          <a:p>
            <a:pPr indent="-3111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Char char="●"/>
            </a:pPr>
            <a:r>
              <a:rPr lang="en" sz="1300">
                <a:solidFill>
                  <a:schemeClr val="dk1"/>
                </a:solidFill>
              </a:rPr>
              <a:t>Owner: Product and Sales teams.</a:t>
            </a:r>
            <a:endParaRPr sz="13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SzPts val="1100"/>
              <a:buNone/>
            </a:pPr>
            <a:r>
              <a:rPr b="1" lang="en" sz="1300">
                <a:solidFill>
                  <a:schemeClr val="dk1"/>
                </a:solidFill>
              </a:rPr>
              <a:t>Success Measures:</a:t>
            </a:r>
            <a:r>
              <a:rPr lang="en" sz="1300">
                <a:solidFill>
                  <a:schemeClr val="dk1"/>
                </a:solidFill>
              </a:rPr>
              <a:t> Profit margin, sub-category profit, sales volume and the profitability of discounted transactions.</a:t>
            </a:r>
            <a:endParaRPr b="1" sz="13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5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p30"/>
          <p:cNvSpPr/>
          <p:nvPr/>
        </p:nvSpPr>
        <p:spPr>
          <a:xfrm>
            <a:off x="0" y="0"/>
            <a:ext cx="9144015" cy="754380"/>
          </a:xfrm>
          <a:prstGeom prst="rect">
            <a:avLst/>
          </a:prstGeom>
          <a:solidFill>
            <a:srgbClr val="176B87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7" name="Google Shape;167;p30"/>
          <p:cNvSpPr txBox="1"/>
          <p:nvPr/>
        </p:nvSpPr>
        <p:spPr>
          <a:xfrm>
            <a:off x="411491" y="137160"/>
            <a:ext cx="8229819" cy="48006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2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Impact, Limitations &amp; Next Steps</a:t>
            </a:r>
            <a:endParaRPr sz="1100"/>
          </a:p>
        </p:txBody>
      </p:sp>
      <p:sp>
        <p:nvSpPr>
          <p:cNvPr id="168" name="Google Shape;168;p30"/>
          <p:cNvSpPr txBox="1"/>
          <p:nvPr/>
        </p:nvSpPr>
        <p:spPr>
          <a:xfrm>
            <a:off x="548650" y="1028700"/>
            <a:ext cx="8033700" cy="33402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1300">
                <a:solidFill>
                  <a:schemeClr val="dk1"/>
                </a:solidFill>
              </a:rPr>
              <a:t>Expected Impact</a:t>
            </a:r>
            <a:endParaRPr b="1" sz="1300">
              <a:solidFill>
                <a:schemeClr val="dk1"/>
              </a:solidFill>
            </a:endParaRPr>
          </a:p>
          <a:p>
            <a:pPr indent="-3111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300"/>
              <a:buChar char="●"/>
            </a:pPr>
            <a:r>
              <a:rPr lang="en" sz="1300">
                <a:solidFill>
                  <a:schemeClr val="dk1"/>
                </a:solidFill>
              </a:rPr>
              <a:t>Reduce avoidable losses.</a:t>
            </a:r>
            <a:endParaRPr sz="1300">
              <a:solidFill>
                <a:schemeClr val="dk1"/>
              </a:solidFill>
            </a:endParaRPr>
          </a:p>
          <a:p>
            <a:pPr indent="-3111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Char char="●"/>
            </a:pPr>
            <a:r>
              <a:rPr lang="en" sz="1300">
                <a:solidFill>
                  <a:schemeClr val="dk1"/>
                </a:solidFill>
              </a:rPr>
              <a:t>Improve profit margins.</a:t>
            </a:r>
            <a:endParaRPr sz="1300">
              <a:solidFill>
                <a:schemeClr val="dk1"/>
              </a:solidFill>
            </a:endParaRPr>
          </a:p>
          <a:p>
            <a:pPr indent="-3111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Char char="●"/>
            </a:pPr>
            <a:r>
              <a:rPr lang="en" sz="1300">
                <a:solidFill>
                  <a:schemeClr val="dk1"/>
                </a:solidFill>
              </a:rPr>
              <a:t>Support better pricing decisions.</a:t>
            </a:r>
            <a:endParaRPr sz="13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1300">
                <a:solidFill>
                  <a:schemeClr val="dk1"/>
                </a:solidFill>
              </a:rPr>
              <a:t>Limitations</a:t>
            </a:r>
            <a:endParaRPr b="1" sz="1300">
              <a:solidFill>
                <a:schemeClr val="dk1"/>
              </a:solidFill>
            </a:endParaRPr>
          </a:p>
          <a:p>
            <a:pPr indent="-3111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300"/>
              <a:buChar char="●"/>
            </a:pPr>
            <a:r>
              <a:rPr lang="en" sz="1300">
                <a:solidFill>
                  <a:schemeClr val="dk1"/>
                </a:solidFill>
              </a:rPr>
              <a:t>Historical data from 2011–2014.</a:t>
            </a:r>
            <a:endParaRPr sz="1300">
              <a:solidFill>
                <a:schemeClr val="dk1"/>
              </a:solidFill>
            </a:endParaRPr>
          </a:p>
          <a:p>
            <a:pPr indent="-3111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Char char="●"/>
            </a:pPr>
            <a:r>
              <a:rPr lang="en" sz="1300">
                <a:solidFill>
                  <a:schemeClr val="dk1"/>
                </a:solidFill>
              </a:rPr>
              <a:t>Analysis does not establish causation.</a:t>
            </a:r>
            <a:endParaRPr sz="13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1300">
                <a:solidFill>
                  <a:schemeClr val="dk1"/>
                </a:solidFill>
              </a:rPr>
              <a:t>Next Steps</a:t>
            </a:r>
            <a:endParaRPr b="1" sz="1300">
              <a:solidFill>
                <a:schemeClr val="dk1"/>
              </a:solidFill>
            </a:endParaRPr>
          </a:p>
          <a:p>
            <a:pPr indent="-3111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300"/>
              <a:buChar char="●"/>
            </a:pPr>
            <a:r>
              <a:rPr lang="en" sz="1300">
                <a:solidFill>
                  <a:schemeClr val="dk1"/>
                </a:solidFill>
              </a:rPr>
              <a:t>Build a Looker Studio dashboard.</a:t>
            </a:r>
            <a:endParaRPr sz="1300">
              <a:solidFill>
                <a:schemeClr val="dk1"/>
              </a:solidFill>
            </a:endParaRPr>
          </a:p>
          <a:p>
            <a:pPr indent="-3111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Char char="●"/>
            </a:pPr>
            <a:r>
              <a:rPr lang="en" sz="1300">
                <a:solidFill>
                  <a:schemeClr val="dk1"/>
                </a:solidFill>
              </a:rPr>
              <a:t>Validate findings with recent data.</a:t>
            </a:r>
            <a:endParaRPr sz="1300">
              <a:solidFill>
                <a:schemeClr val="dk1"/>
              </a:solidFill>
            </a:endParaRPr>
          </a:p>
          <a:p>
            <a:pPr indent="-3111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Char char="●"/>
            </a:pPr>
            <a:r>
              <a:rPr lang="en" sz="1300">
                <a:solidFill>
                  <a:schemeClr val="dk1"/>
                </a:solidFill>
              </a:rPr>
              <a:t>Monitor profitability after changes.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